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SLOTWISE  /  HACKATHON DEMO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583680" y="48006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2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WALKTHROUGH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2396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2396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63640" y="0"/>
            <a:ext cx="2880360" cy="5143500"/>
          </a:xfrm>
          <a:prstGeom prst="rect">
            <a:avLst/>
          </a:prstGeom>
          <a:solidFill>
            <a:srgbClr val="0077B6">
              <a:alpha val="26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52360" y="0"/>
            <a:ext cx="1691640" cy="5143500"/>
          </a:xfrm>
          <a:prstGeom prst="rect">
            <a:avLst/>
          </a:prstGeom>
          <a:solidFill>
            <a:srgbClr val="8ECAE6">
              <a:alpha val="35000"/>
            </a:srgbClr>
          </a:solidFill>
          <a:ln w="12700">
            <a:solidFill>
              <a:srgbClr val="8ECAE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10528" y="1115568"/>
            <a:ext cx="347472" cy="33375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47104" y="1325880"/>
            <a:ext cx="274320" cy="320040"/>
          </a:xfrm>
          <a:prstGeom prst="rect">
            <a:avLst/>
          </a:prstGeom>
          <a:solidFill>
            <a:srgbClr val="8ECAE6">
              <a:alpha val="75000"/>
            </a:srgbClr>
          </a:solidFill>
          <a:ln w="889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47104" y="1911096"/>
            <a:ext cx="274320" cy="320040"/>
          </a:xfrm>
          <a:prstGeom prst="rect">
            <a:avLst/>
          </a:prstGeom>
          <a:solidFill>
            <a:srgbClr val="8ECAE6">
              <a:alpha val="75000"/>
            </a:srgbClr>
          </a:solidFill>
          <a:ln w="889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47104" y="2496312"/>
            <a:ext cx="274320" cy="320040"/>
          </a:xfrm>
          <a:prstGeom prst="rect">
            <a:avLst/>
          </a:prstGeom>
          <a:solidFill>
            <a:srgbClr val="FFB703">
              <a:alpha val="75000"/>
            </a:srgbClr>
          </a:solidFill>
          <a:ln w="889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47104" y="3081528"/>
            <a:ext cx="274320" cy="320040"/>
          </a:xfrm>
          <a:prstGeom prst="rect">
            <a:avLst/>
          </a:prstGeom>
          <a:solidFill>
            <a:srgbClr val="8ECAE6">
              <a:alpha val="75000"/>
            </a:srgbClr>
          </a:solidFill>
          <a:ln w="889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47104" y="3666744"/>
            <a:ext cx="274320" cy="320040"/>
          </a:xfrm>
          <a:prstGeom prst="rect">
            <a:avLst/>
          </a:prstGeom>
          <a:solidFill>
            <a:srgbClr val="8ECAE6">
              <a:alpha val="75000"/>
            </a:srgbClr>
          </a:solidFill>
          <a:ln w="889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86600" y="1115568"/>
            <a:ext cx="347472" cy="33375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23176" y="1325880"/>
            <a:ext cx="274320" cy="320040"/>
          </a:xfrm>
          <a:prstGeom prst="rect">
            <a:avLst/>
          </a:prstGeom>
          <a:solidFill>
            <a:srgbClr val="8ECAE6">
              <a:alpha val="75000"/>
            </a:srgbClr>
          </a:solidFill>
          <a:ln w="889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23176" y="1911096"/>
            <a:ext cx="274320" cy="320040"/>
          </a:xfrm>
          <a:prstGeom prst="rect">
            <a:avLst/>
          </a:prstGeom>
          <a:solidFill>
            <a:srgbClr val="8ECAE6">
              <a:alpha val="75000"/>
            </a:srgbClr>
          </a:solidFill>
          <a:ln w="889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23176" y="2496312"/>
            <a:ext cx="274320" cy="320040"/>
          </a:xfrm>
          <a:prstGeom prst="rect">
            <a:avLst/>
          </a:prstGeom>
          <a:solidFill>
            <a:srgbClr val="FFB703">
              <a:alpha val="75000"/>
            </a:srgbClr>
          </a:solidFill>
          <a:ln w="889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23176" y="3081528"/>
            <a:ext cx="274320" cy="320040"/>
          </a:xfrm>
          <a:prstGeom prst="rect">
            <a:avLst/>
          </a:prstGeom>
          <a:solidFill>
            <a:srgbClr val="8ECAE6">
              <a:alpha val="75000"/>
            </a:srgbClr>
          </a:solidFill>
          <a:ln w="889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23176" y="3666744"/>
            <a:ext cx="274320" cy="320040"/>
          </a:xfrm>
          <a:prstGeom prst="rect">
            <a:avLst/>
          </a:prstGeom>
          <a:solidFill>
            <a:srgbClr val="8ECAE6">
              <a:alpha val="75000"/>
            </a:srgbClr>
          </a:solidFill>
          <a:ln w="889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62672" y="1115568"/>
            <a:ext cx="347472" cy="33375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99248" y="1325880"/>
            <a:ext cx="274320" cy="320040"/>
          </a:xfrm>
          <a:prstGeom prst="rect">
            <a:avLst/>
          </a:prstGeom>
          <a:solidFill>
            <a:srgbClr val="8ECAE6">
              <a:alpha val="75000"/>
            </a:srgbClr>
          </a:solidFill>
          <a:ln w="889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99248" y="1911096"/>
            <a:ext cx="274320" cy="320040"/>
          </a:xfrm>
          <a:prstGeom prst="rect">
            <a:avLst/>
          </a:prstGeom>
          <a:solidFill>
            <a:srgbClr val="8ECAE6">
              <a:alpha val="75000"/>
            </a:srgbClr>
          </a:solidFill>
          <a:ln w="889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99248" y="2496312"/>
            <a:ext cx="274320" cy="320040"/>
          </a:xfrm>
          <a:prstGeom prst="rect">
            <a:avLst/>
          </a:prstGeom>
          <a:solidFill>
            <a:srgbClr val="FFB703">
              <a:alpha val="75000"/>
            </a:srgbClr>
          </a:solidFill>
          <a:ln w="889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99248" y="3081528"/>
            <a:ext cx="274320" cy="320040"/>
          </a:xfrm>
          <a:prstGeom prst="rect">
            <a:avLst/>
          </a:prstGeom>
          <a:solidFill>
            <a:srgbClr val="8ECAE6">
              <a:alpha val="75000"/>
            </a:srgbClr>
          </a:solidFill>
          <a:ln w="889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99248" y="3666744"/>
            <a:ext cx="274320" cy="320040"/>
          </a:xfrm>
          <a:prstGeom prst="rect">
            <a:avLst/>
          </a:prstGeom>
          <a:solidFill>
            <a:srgbClr val="8ECAE6">
              <a:alpha val="75000"/>
            </a:srgbClr>
          </a:solidFill>
          <a:ln w="889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38744" y="1115568"/>
            <a:ext cx="347472" cy="33375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75320" y="1325880"/>
            <a:ext cx="274320" cy="320040"/>
          </a:xfrm>
          <a:prstGeom prst="rect">
            <a:avLst/>
          </a:prstGeom>
          <a:solidFill>
            <a:srgbClr val="8ECAE6">
              <a:alpha val="75000"/>
            </a:srgbClr>
          </a:solidFill>
          <a:ln w="889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75320" y="1911096"/>
            <a:ext cx="274320" cy="320040"/>
          </a:xfrm>
          <a:prstGeom prst="rect">
            <a:avLst/>
          </a:prstGeom>
          <a:solidFill>
            <a:srgbClr val="8ECAE6">
              <a:alpha val="75000"/>
            </a:srgbClr>
          </a:solidFill>
          <a:ln w="889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75320" y="2496312"/>
            <a:ext cx="274320" cy="320040"/>
          </a:xfrm>
          <a:prstGeom prst="rect">
            <a:avLst/>
          </a:prstGeom>
          <a:solidFill>
            <a:srgbClr val="FFB703">
              <a:alpha val="75000"/>
            </a:srgbClr>
          </a:solidFill>
          <a:ln w="889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75320" y="3081528"/>
            <a:ext cx="274320" cy="320040"/>
          </a:xfrm>
          <a:prstGeom prst="rect">
            <a:avLst/>
          </a:prstGeom>
          <a:solidFill>
            <a:srgbClr val="8ECAE6">
              <a:alpha val="75000"/>
            </a:srgbClr>
          </a:solidFill>
          <a:ln w="889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3666744"/>
            <a:ext cx="274320" cy="320040"/>
          </a:xfrm>
          <a:prstGeom prst="rect">
            <a:avLst/>
          </a:prstGeom>
          <a:solidFill>
            <a:srgbClr val="8ECAE6">
              <a:alpha val="75000"/>
            </a:srgbClr>
          </a:solidFill>
          <a:ln w="889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71323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FFB70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HACKATHON BUILD  /  LIVE DEMO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6928" y="13258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Slotwise</a:t>
            </a:r>
            <a:endParaRPr lang="en-US" sz="5400" dirty="0"/>
          </a:p>
        </p:txBody>
      </p:sp>
      <p:sp>
        <p:nvSpPr>
          <p:cNvPr id="30" name="Text 28"/>
          <p:cNvSpPr/>
          <p:nvPr/>
        </p:nvSpPr>
        <p:spPr>
          <a:xfrm>
            <a:off x="621792" y="22860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C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Smarter warehouse slotting,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DC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safety built in.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40080" y="3319272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4D4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order history into a feasible, demand-aware storage plan.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" y="4160520"/>
            <a:ext cx="2606040" cy="265176"/>
          </a:xfrm>
          <a:prstGeom prst="roundRect">
            <a:avLst>
              <a:gd name="adj" fmla="val 41379"/>
            </a:avLst>
          </a:prstGeom>
          <a:solidFill>
            <a:srgbClr val="8ECAE6">
              <a:alpha val="12000"/>
            </a:srgbClr>
          </a:solidFill>
          <a:ln w="12700">
            <a:solidFill>
              <a:srgbClr val="8ECAE6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4178808"/>
            <a:ext cx="24597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ECA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→ INSIGHT → SAFE PLACEMENT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40080" y="46177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4D4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status: validated baseline; optimization comparison is next.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/  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pick starts with a placement decision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0881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location reduces walking. A valid location must also respect the warehouse.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0352" y="1737360"/>
            <a:ext cx="2560320" cy="20848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938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13232" y="242316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13232" y="2862072"/>
            <a:ext cx="2194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movers deserve accessible positions.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3232" y="345643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 reveal what is picked often.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19272" y="1737360"/>
            <a:ext cx="2560320" cy="20848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2152" y="1938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502152" y="242316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Affinity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502152" y="2862072"/>
            <a:ext cx="2194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Basket companions should sit near one another.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02152" y="345643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Co-occurrence turns orders into proximity evidence.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08192" y="1737360"/>
            <a:ext cx="2560320" cy="208483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19385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6291072" y="242316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Feasibility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291072" y="2862072"/>
            <a:ext cx="21945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route is useless if the slot is unsafe.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91072" y="345643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Fit, load, height and hazard rules constrain placement.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0352" y="4096512"/>
            <a:ext cx="8092440" cy="484632"/>
          </a:xfrm>
          <a:prstGeom prst="roundRect">
            <a:avLst>
              <a:gd name="adj" fmla="val 22642"/>
            </a:avLst>
          </a:prstGeom>
          <a:solidFill>
            <a:srgbClr val="023047"/>
          </a:solidFill>
          <a:ln w="10160">
            <a:solidFill>
              <a:srgbClr val="0230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197096"/>
            <a:ext cx="7635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Slotwise combines order patterns with hard physical rules to build a usable starting layout.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2396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/  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transactions to a warehouse-ready baseline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0881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reproducible Python pipeline produces immutable run artifacts for the Streamlit demo.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1444752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9751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9224" y="227685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9224" y="263347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Retail II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84248" y="2514600"/>
            <a:ext cx="182880" cy="0"/>
          </a:xfrm>
          <a:prstGeom prst="line">
            <a:avLst/>
          </a:prstGeom>
          <a:noFill/>
          <a:ln w="20320">
            <a:solidFill>
              <a:srgbClr val="0077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84832" y="2423160"/>
            <a:ext cx="164592" cy="182880"/>
          </a:xfrm>
          <a:prstGeom prst="chevron">
            <a:avLst/>
          </a:prstGeom>
          <a:solidFill>
            <a:srgbClr val="0077B6"/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21992" y="1828800"/>
            <a:ext cx="1444752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68296" y="19751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68296" y="227685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68296" y="263347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+ split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chronologically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03320" y="2514600"/>
            <a:ext cx="182880" cy="0"/>
          </a:xfrm>
          <a:prstGeom prst="line">
            <a:avLst/>
          </a:prstGeom>
          <a:noFill/>
          <a:ln w="20320">
            <a:solidFill>
              <a:srgbClr val="0077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03904" y="2423160"/>
            <a:ext cx="164592" cy="182880"/>
          </a:xfrm>
          <a:prstGeom prst="chevron">
            <a:avLst/>
          </a:prstGeom>
          <a:solidFill>
            <a:srgbClr val="0077B6"/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41064" y="1828800"/>
            <a:ext cx="1444752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87368" y="19751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87368" y="227685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87368" y="263347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ABC demand +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basket affinity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22392" y="2514600"/>
            <a:ext cx="182880" cy="0"/>
          </a:xfrm>
          <a:prstGeom prst="line">
            <a:avLst/>
          </a:prstGeom>
          <a:noFill/>
          <a:ln w="20320">
            <a:solidFill>
              <a:srgbClr val="0077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22976" y="2423160"/>
            <a:ext cx="164592" cy="182880"/>
          </a:xfrm>
          <a:prstGeom prst="chevron">
            <a:avLst/>
          </a:prstGeom>
          <a:solidFill>
            <a:srgbClr val="0077B6"/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0136" y="1828800"/>
            <a:ext cx="1444752" cy="1353312"/>
          </a:xfrm>
          <a:prstGeom prst="roundRect">
            <a:avLst>
              <a:gd name="adj" fmla="val 8108"/>
            </a:avLst>
          </a:prstGeom>
          <a:solidFill>
            <a:srgbClr val="FFF4D4"/>
          </a:solidFill>
          <a:ln w="10160">
            <a:solidFill>
              <a:srgbClr val="FFB70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19751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06440" y="227685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ALLOCATE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06440" y="263347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Feasible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layout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41464" y="2514600"/>
            <a:ext cx="182880" cy="0"/>
          </a:xfrm>
          <a:prstGeom prst="line">
            <a:avLst/>
          </a:prstGeom>
          <a:noFill/>
          <a:ln w="20320">
            <a:solidFill>
              <a:srgbClr val="0077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42048" y="2423160"/>
            <a:ext cx="164592" cy="182880"/>
          </a:xfrm>
          <a:prstGeom prst="chevron">
            <a:avLst/>
          </a:prstGeom>
          <a:solidFill>
            <a:srgbClr val="0077B6"/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79208" y="1828800"/>
            <a:ext cx="1444752" cy="1353312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25512" y="19751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525512" y="227685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25512" y="263347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 views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" y="3721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94360" y="4023360"/>
            <a:ext cx="14173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09651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85800" y="4242816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258568" y="4023360"/>
            <a:ext cx="14173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50008" y="409651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PANDAS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350008" y="4242816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922776" y="4023360"/>
            <a:ext cx="14173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14216" y="409651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PARQUET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014216" y="4242816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bundles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586984" y="4023360"/>
            <a:ext cx="14173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78424" y="409651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678424" y="4242816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251192" y="4023360"/>
            <a:ext cx="14173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42632" y="4096512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PLOTLY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342632" y="4242816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2396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/  WHAT THE DATA SAYS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real order history gives the prototype its signal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0881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saved run: UCI Online Retail II; physical SKU and warehouse attributes are synthetic scenario data.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0352" y="1627632"/>
            <a:ext cx="18288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1773936"/>
            <a:ext cx="15361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123,818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9224" y="2221992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7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LINES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0" y="1627632"/>
            <a:ext cx="18288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06624" y="1773936"/>
            <a:ext cx="15361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679192" y="2221992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7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SKUS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90288" y="1627632"/>
            <a:ext cx="18288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773936"/>
            <a:ext cx="15361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240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4709160" y="2221992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7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 BINS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620256" y="1627632"/>
            <a:ext cx="182880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773936"/>
            <a:ext cx="15361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6739128" y="2221992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spc="7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VIOLATIONS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1792" y="276148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TRAIN-SPLIT DEMAND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" y="3017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ABC classes group products by cumulative pick frequency.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4930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3520440"/>
            <a:ext cx="2514600" cy="146304"/>
          </a:xfrm>
          <a:prstGeom prst="roundRect">
            <a:avLst>
              <a:gd name="adj" fmla="val 37500"/>
            </a:avLst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3520440"/>
            <a:ext cx="2011680" cy="146304"/>
          </a:xfrm>
          <a:prstGeom prst="roundRect">
            <a:avLst>
              <a:gd name="adj" fmla="val 37500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7872" y="349300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~80%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38404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B70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" y="3867912"/>
            <a:ext cx="2514600" cy="146304"/>
          </a:xfrm>
          <a:prstGeom prst="roundRect">
            <a:avLst>
              <a:gd name="adj" fmla="val 37500"/>
            </a:avLst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3867912"/>
            <a:ext cx="377190" cy="146304"/>
          </a:xfrm>
          <a:prstGeom prst="roundRect">
            <a:avLst>
              <a:gd name="adj" fmla="val 37500"/>
            </a:avLst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47872" y="384048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~15%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41879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4400" y="4215384"/>
            <a:ext cx="2514600" cy="146304"/>
          </a:xfrm>
          <a:prstGeom prst="roundRect">
            <a:avLst>
              <a:gd name="adj" fmla="val 37500"/>
            </a:avLst>
          </a:prstGeom>
          <a:solidFill>
            <a:srgbClr val="DCE5EF"/>
          </a:solidFill>
          <a:ln w="12700">
            <a:solidFill>
              <a:srgbClr val="DCE5E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4215384"/>
            <a:ext cx="125730" cy="146304"/>
          </a:xfrm>
          <a:prstGeom prst="roundRect">
            <a:avLst>
              <a:gd name="adj" fmla="val 43636"/>
            </a:avLst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47872" y="41879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~5%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2770632"/>
            <a:ext cx="3886200" cy="1490472"/>
          </a:xfrm>
          <a:prstGeom prst="roundRect">
            <a:avLst>
              <a:gd name="adj" fmla="val 7362"/>
            </a:avLst>
          </a:prstGeom>
          <a:solidFill>
            <a:srgbClr val="023047"/>
          </a:solidFill>
          <a:ln w="10160">
            <a:solidFill>
              <a:srgbClr val="02304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92040" y="2990088"/>
            <a:ext cx="1234440" cy="265176"/>
          </a:xfrm>
          <a:prstGeom prst="roundRect">
            <a:avLst>
              <a:gd name="adj" fmla="val 41379"/>
            </a:avLst>
          </a:prstGeom>
          <a:solidFill>
            <a:srgbClr val="FFB703">
              <a:alpha val="12000"/>
            </a:srgbClr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65192" y="3008376"/>
            <a:ext cx="10881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B70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AFFINITY EXAMPLE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92040" y="340156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22386  +  85099B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4892040" y="378561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C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Ordered together in 555 training baskets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" y="448056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Chronological split: train 10,294  ·  validation 3,295  ·  test 3,199 orders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2396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/  SAFETY BY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allocator works inside a rules envelope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0881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validation recomputes the assignment checks before a run is saved.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4754880" cy="521208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764792"/>
            <a:ext cx="960120" cy="265176"/>
          </a:xfrm>
          <a:prstGeom prst="roundRect">
            <a:avLst>
              <a:gd name="adj" fmla="val 41379"/>
            </a:avLst>
          </a:prstGeom>
          <a:solidFill>
            <a:srgbClr val="0077B6">
              <a:alpha val="12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83080"/>
            <a:ext cx="8138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901952" y="17556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Stock quantities must pack into the bin volume and dimensions.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304288"/>
            <a:ext cx="4754880" cy="521208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423160"/>
            <a:ext cx="960120" cy="265176"/>
          </a:xfrm>
          <a:prstGeom prst="roundRect">
            <a:avLst>
              <a:gd name="adj" fmla="val 41379"/>
            </a:avLst>
          </a:prstGeom>
          <a:solidFill>
            <a:srgbClr val="0077B6">
              <a:alpha val="12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441448"/>
            <a:ext cx="8138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901952" y="241401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Bin, shelf and rack weight limits are enforced.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2962656"/>
            <a:ext cx="4754880" cy="521208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3081528"/>
            <a:ext cx="960120" cy="265176"/>
          </a:xfrm>
          <a:prstGeom prst="roundRect">
            <a:avLst>
              <a:gd name="adj" fmla="val 41379"/>
            </a:avLst>
          </a:prstGeom>
          <a:solidFill>
            <a:srgbClr val="0077B6">
              <a:alpha val="12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099816"/>
            <a:ext cx="8138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HEIGHT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901952" y="30723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Heavy and fragile products follow shelf-level restrictions.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621024"/>
            <a:ext cx="4754880" cy="521208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3739896"/>
            <a:ext cx="960120" cy="265176"/>
          </a:xfrm>
          <a:prstGeom prst="roundRect">
            <a:avLst>
              <a:gd name="adj" fmla="val 41379"/>
            </a:avLst>
          </a:prstGeom>
          <a:solidFill>
            <a:srgbClr val="FB8500">
              <a:alpha val="12000"/>
            </a:srgbClr>
          </a:solidFill>
          <a:ln w="12700">
            <a:solidFill>
              <a:srgbClr val="FB850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758184"/>
            <a:ext cx="8138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B85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ISOLATION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901952" y="37307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Hazardous inventory stays in its designated zone with clearance.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806440" y="1645920"/>
            <a:ext cx="2697480" cy="2724912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53328" y="18470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WAREHOUSE SLOT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63056" y="2212848"/>
            <a:ext cx="1965960" cy="329184"/>
          </a:xfrm>
          <a:prstGeom prst="rect">
            <a:avLst/>
          </a:prstGeom>
          <a:solidFill>
            <a:srgbClr val="EAF4F8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54496" y="228600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HEAVY / LOW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63056" y="2651760"/>
            <a:ext cx="1965960" cy="329184"/>
          </a:xfrm>
          <a:prstGeom prst="rect">
            <a:avLst/>
          </a:prstGeom>
          <a:solidFill>
            <a:srgbClr val="FFF4D4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54496" y="272491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A65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GOLDEN ZONE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163056" y="3090672"/>
            <a:ext cx="1965960" cy="329184"/>
          </a:xfrm>
          <a:prstGeom prst="rect">
            <a:avLst/>
          </a:prstGeom>
          <a:solidFill>
            <a:srgbClr val="EAF4F8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54496" y="316382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 / REACH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163056" y="3529584"/>
            <a:ext cx="1965960" cy="329184"/>
          </a:xfrm>
          <a:prstGeom prst="rect">
            <a:avLst/>
          </a:prstGeom>
          <a:solidFill>
            <a:srgbClr val="EAF4F8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54496" y="360273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CHECK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53328" y="4096512"/>
            <a:ext cx="2221992" cy="0"/>
          </a:xfrm>
          <a:prstGeom prst="line">
            <a:avLst/>
          </a:prstGeom>
          <a:noFill/>
          <a:ln w="25400">
            <a:solidFill>
              <a:srgbClr val="0230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9632" y="4169664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AISLE / PICKER PATH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66928" y="4407408"/>
            <a:ext cx="7936992" cy="310896"/>
          </a:xfrm>
          <a:prstGeom prst="roundRect">
            <a:avLst>
              <a:gd name="adj" fmla="val 35294"/>
            </a:avLst>
          </a:prstGeom>
          <a:solidFill>
            <a:srgbClr val="E7F5EF"/>
          </a:solidFill>
          <a:ln w="10160">
            <a:solidFill>
              <a:srgbClr val="B7E2C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471416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07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SAVED BASELINE  ·  150 / 150 products placed  ·  0 detected violations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2396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/  DEMO WALKTHROUGH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the evidence, then inspect the placement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0881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order for the live product tour.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30352" y="1600200"/>
            <a:ext cx="4919472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600200"/>
            <a:ext cx="4919472" cy="347472"/>
          </a:xfrm>
          <a:prstGeom prst="rect">
            <a:avLst/>
          </a:prstGeom>
          <a:solidFill>
            <a:srgbClr val="023047"/>
          </a:solidFill>
          <a:ln w="12700">
            <a:solidFill>
              <a:srgbClr val="02304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00784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SLOTWISE  ·  COMPLETED RUN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49808" y="2139696"/>
            <a:ext cx="1975104" cy="612648"/>
          </a:xfrm>
          <a:prstGeom prst="roundRect">
            <a:avLst>
              <a:gd name="adj" fmla="val 17910"/>
            </a:avLst>
          </a:prstGeom>
          <a:solidFill>
            <a:srgbClr val="EAF4F8"/>
          </a:solidFill>
          <a:ln w="1016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249424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here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68680" y="245973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 SKUs   ·   240 bins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safety issues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990088" y="2139696"/>
            <a:ext cx="1975104" cy="612648"/>
          </a:xfrm>
          <a:prstGeom prst="roundRect">
            <a:avLst>
              <a:gd name="adj" fmla="val 17910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2249424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customers buy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108960" y="248716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Pareto + pairs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49808" y="2980944"/>
            <a:ext cx="1975104" cy="612648"/>
          </a:xfrm>
          <a:prstGeom prst="roundRect">
            <a:avLst>
              <a:gd name="adj" fmla="val 17910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090672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products are stored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68680" y="3328416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Shelf map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990088" y="2980944"/>
            <a:ext cx="1975104" cy="612648"/>
          </a:xfrm>
          <a:prstGeom prst="roundRect">
            <a:avLst>
              <a:gd name="adj" fmla="val 17910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3090672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checks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108960" y="3328416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results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806440" y="1719072"/>
            <a:ext cx="310896" cy="31089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176479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72784" y="16733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here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72784" y="19476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scope, data provenance and chronological split.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06440" y="2404872"/>
            <a:ext cx="310896" cy="31089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245059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72784" y="23591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customers buy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72784" y="26334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demand groups and one frequent basket pair.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806440" y="3090672"/>
            <a:ext cx="310896" cy="31089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06440" y="313639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72784" y="30449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products are stored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72784" y="33192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a shelf, hover a SKU and explain accessibility.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806440" y="3776472"/>
            <a:ext cx="310896" cy="310896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06440" y="382219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72784" y="37307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checks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72784" y="400507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on zero violations and the physical rules.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2396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 /  CLOSE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safe foundation for measurable optimization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0881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product slice is to compare a demand-aware layout against this same validated baseline.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3703320" cy="2514600"/>
          </a:xfrm>
          <a:prstGeom prst="roundRect">
            <a:avLst>
              <a:gd name="adj" fmla="val 4364"/>
            </a:avLst>
          </a:prstGeom>
          <a:solidFill>
            <a:srgbClr val="023047"/>
          </a:solidFill>
          <a:ln w="10160">
            <a:solidFill>
              <a:srgbClr val="0230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385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FFB70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TODAY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50392" y="2423160"/>
            <a:ext cx="109728" cy="109728"/>
          </a:xfrm>
          <a:prstGeom prst="ellipse">
            <a:avLst/>
          </a:prstGeom>
          <a:solidFill>
            <a:srgbClr val="8ECAE6"/>
          </a:solidFill>
          <a:ln w="12700">
            <a:solidFill>
              <a:srgbClr val="8ECAE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3682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historical order pipeline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0392" y="2788920"/>
            <a:ext cx="109728" cy="109728"/>
          </a:xfrm>
          <a:prstGeom prst="ellipse">
            <a:avLst/>
          </a:prstGeom>
          <a:solidFill>
            <a:srgbClr val="8ECAE6"/>
          </a:solidFill>
          <a:ln w="12700">
            <a:solidFill>
              <a:srgbClr val="8ECAE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73405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Train-only demand + affinity EDA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50392" y="3154680"/>
            <a:ext cx="109728" cy="109728"/>
          </a:xfrm>
          <a:prstGeom prst="ellipse">
            <a:avLst/>
          </a:prstGeom>
          <a:solidFill>
            <a:srgbClr val="8ECAE6"/>
          </a:solidFill>
          <a:ln w="12700">
            <a:solidFill>
              <a:srgbClr val="8ECAE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0998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Feasible 150-SKU baseline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0392" y="3520440"/>
            <a:ext cx="109728" cy="109728"/>
          </a:xfrm>
          <a:prstGeom prst="ellipse">
            <a:avLst/>
          </a:prstGeom>
          <a:solidFill>
            <a:srgbClr val="8ECAE6"/>
          </a:solidFill>
          <a:ln w="12700">
            <a:solidFill>
              <a:srgbClr val="8ECAE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4655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dashboard + run artifacts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691640"/>
            <a:ext cx="397764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93852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40" kern="0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TO DEMONSTRATE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73752" y="2423160"/>
            <a:ext cx="109728" cy="10972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236829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Feasible relocate / swap search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73752" y="2788920"/>
            <a:ext cx="109728" cy="10972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273405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vs optimized pick path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73752" y="3154680"/>
            <a:ext cx="109728" cy="10972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309981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Held-out travel and time metrics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73752" y="3520440"/>
            <a:ext cx="109728" cy="10972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3465576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trade-offs, no assumed gains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" y="442569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claim we can support now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423160" y="4389120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active product has a legal starting slot, and the rules are independently checked.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2396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 /  PIPELINE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reproducible run moves through five explicit stages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0881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stage writes typed tables or validation evidence that downstream views can inspect.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1472184" cy="1645920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874520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SOURCE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30936" y="2194560"/>
            <a:ext cx="1216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UCI Online Retail II ZIP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" y="2724912"/>
            <a:ext cx="12161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XLSX sheet → canonical order lines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30936" y="3182112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openpyxl · pandas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011680" y="2542032"/>
            <a:ext cx="155448" cy="0"/>
          </a:xfrm>
          <a:prstGeom prst="line">
            <a:avLst/>
          </a:prstGeom>
          <a:noFill/>
          <a:ln w="19050">
            <a:solidFill>
              <a:srgbClr val="0077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93976" y="2459736"/>
            <a:ext cx="137160" cy="164592"/>
          </a:xfrm>
          <a:prstGeom prst="chevron">
            <a:avLst/>
          </a:prstGeom>
          <a:solidFill>
            <a:srgbClr val="0077B6"/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1992" y="1719072"/>
            <a:ext cx="1472184" cy="1645920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0008" y="1874520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PREP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50008" y="2194560"/>
            <a:ext cx="1216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+ deduplicate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50008" y="2724912"/>
            <a:ext cx="12161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Chronological 60 / 20 / 20 split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350008" y="3182112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pandas · Python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730752" y="2542032"/>
            <a:ext cx="155448" cy="0"/>
          </a:xfrm>
          <a:prstGeom prst="line">
            <a:avLst/>
          </a:prstGeom>
          <a:noFill/>
          <a:ln w="19050">
            <a:solidFill>
              <a:srgbClr val="0077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13048" y="2459736"/>
            <a:ext cx="137160" cy="164592"/>
          </a:xfrm>
          <a:prstGeom prst="chevron">
            <a:avLst/>
          </a:prstGeom>
          <a:solidFill>
            <a:srgbClr val="0077B6"/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41064" y="1719072"/>
            <a:ext cx="1472184" cy="1645920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69080" y="1874520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SIGNAL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69080" y="2194560"/>
            <a:ext cx="1216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 SKU cohort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69080" y="2724912"/>
            <a:ext cx="12161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ABC demand + basket pair metrics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69080" y="3182112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pandas · NumPy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49824" y="2542032"/>
            <a:ext cx="155448" cy="0"/>
          </a:xfrm>
          <a:prstGeom prst="line">
            <a:avLst/>
          </a:prstGeom>
          <a:noFill/>
          <a:ln w="19050">
            <a:solidFill>
              <a:srgbClr val="0077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32120" y="2459736"/>
            <a:ext cx="137160" cy="164592"/>
          </a:xfrm>
          <a:prstGeom prst="chevron">
            <a:avLst/>
          </a:prstGeom>
          <a:solidFill>
            <a:srgbClr val="0077B6"/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0136" y="1719072"/>
            <a:ext cx="1472184" cy="1645920"/>
          </a:xfrm>
          <a:prstGeom prst="roundRect">
            <a:avLst>
              <a:gd name="adj" fmla="val 7453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8152" y="1874520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SLOT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788152" y="2194560"/>
            <a:ext cx="1216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scenario + allocate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88152" y="2724912"/>
            <a:ext cx="12161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Fit, weight, height, hazard checks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88152" y="3182112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· rules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168896" y="2542032"/>
            <a:ext cx="155448" cy="0"/>
          </a:xfrm>
          <a:prstGeom prst="line">
            <a:avLst/>
          </a:prstGeom>
          <a:noFill/>
          <a:ln w="19050">
            <a:solidFill>
              <a:srgbClr val="0077B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51192" y="2459736"/>
            <a:ext cx="137160" cy="164592"/>
          </a:xfrm>
          <a:prstGeom prst="chevron">
            <a:avLst/>
          </a:prstGeom>
          <a:solidFill>
            <a:srgbClr val="0077B6"/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79208" y="1719072"/>
            <a:ext cx="1472184" cy="1645920"/>
          </a:xfrm>
          <a:prstGeom prst="roundRect">
            <a:avLst>
              <a:gd name="adj" fmla="val 7453"/>
            </a:avLst>
          </a:prstGeom>
          <a:solidFill>
            <a:srgbClr val="FFF4D4"/>
          </a:solidFill>
          <a:ln w="10160">
            <a:solidFill>
              <a:srgbClr val="FFB70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07224" y="1874520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 PUBLISH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507224" y="2194560"/>
            <a:ext cx="1216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Immutable run bundle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507224" y="2724912"/>
            <a:ext cx="12161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Parquet tables + JSON manifest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507224" y="3182112"/>
            <a:ext cx="12161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PyArrow · JSON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30352" y="3675888"/>
            <a:ext cx="8083296" cy="713232"/>
          </a:xfrm>
          <a:prstGeom prst="roundRect">
            <a:avLst>
              <a:gd name="adj" fmla="val 15385"/>
            </a:avLst>
          </a:prstGeom>
          <a:solidFill>
            <a:srgbClr val="023047"/>
          </a:solidFill>
          <a:ln w="10160">
            <a:solidFill>
              <a:srgbClr val="0230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" y="383133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FFB70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READS THE SAVED BUNDLE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46120" y="3794760"/>
            <a:ext cx="5056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 + Plotly render summary metrics, demand / affinity views, shelf maps and safety results.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1792" y="4507992"/>
            <a:ext cx="7818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identity includes the configuration hash; validation is recomputed before the bundle is marked complete.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2396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60" kern="0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 /  ARCHITECTURE &amp; STACK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compact Python system with clear data boundaries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108813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local pipeline creates versioned artifacts; the dashboard reads them for interactive inspection.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627632"/>
            <a:ext cx="3977640" cy="493776"/>
          </a:xfrm>
          <a:prstGeom prst="roundRect">
            <a:avLst>
              <a:gd name="adj" fmla="val 22222"/>
            </a:avLst>
          </a:prstGeom>
          <a:solidFill>
            <a:srgbClr val="EAF4F8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709928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783080" y="1700784"/>
            <a:ext cx="253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Retail II ZIP  ·  YAML config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2560320" y="2130552"/>
            <a:ext cx="0" cy="118872"/>
          </a:xfrm>
          <a:prstGeom prst="line">
            <a:avLst/>
          </a:prstGeom>
          <a:noFill/>
          <a:ln w="17780">
            <a:solidFill>
              <a:srgbClr val="0077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87168" y="2212848"/>
            <a:ext cx="146304" cy="137160"/>
          </a:xfrm>
          <a:prstGeom prst="chevron">
            <a:avLst/>
          </a:prstGeom>
          <a:solidFill>
            <a:srgbClr val="0077B6"/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286000"/>
            <a:ext cx="3977640" cy="493776"/>
          </a:xfrm>
          <a:prstGeom prst="roundRect">
            <a:avLst>
              <a:gd name="adj" fmla="val 22222"/>
            </a:avLst>
          </a:prstGeom>
          <a:solidFill>
            <a:srgbClr val="FFF4D4"/>
          </a:solidFill>
          <a:ln w="1016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368296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783080" y="2359152"/>
            <a:ext cx="253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 → EDA → baseline allocator → validator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2560320" y="2788920"/>
            <a:ext cx="0" cy="118872"/>
          </a:xfrm>
          <a:prstGeom prst="line">
            <a:avLst/>
          </a:prstGeom>
          <a:noFill/>
          <a:ln w="17780">
            <a:solidFill>
              <a:srgbClr val="0077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87168" y="2871216"/>
            <a:ext cx="146304" cy="137160"/>
          </a:xfrm>
          <a:prstGeom prst="chevron">
            <a:avLst/>
          </a:prstGeom>
          <a:solidFill>
            <a:srgbClr val="0077B6"/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2944368"/>
            <a:ext cx="3977640" cy="493776"/>
          </a:xfrm>
          <a:prstGeom prst="roundRect">
            <a:avLst>
              <a:gd name="adj" fmla="val 22222"/>
            </a:avLst>
          </a:prstGeom>
          <a:solidFill>
            <a:srgbClr val="EAF4F8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026664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BUNDLE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783080" y="3017520"/>
            <a:ext cx="253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Parquet tables  ·  JSON manifest + validation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2560320" y="3447288"/>
            <a:ext cx="0" cy="118872"/>
          </a:xfrm>
          <a:prstGeom prst="line">
            <a:avLst/>
          </a:prstGeom>
          <a:noFill/>
          <a:ln w="17780">
            <a:solidFill>
              <a:srgbClr val="0077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87168" y="3529584"/>
            <a:ext cx="146304" cy="137160"/>
          </a:xfrm>
          <a:prstGeom prst="chevron">
            <a:avLst/>
          </a:prstGeom>
          <a:solidFill>
            <a:srgbClr val="0077B6"/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602736"/>
            <a:ext cx="3977640" cy="493776"/>
          </a:xfrm>
          <a:prstGeom prst="roundRect">
            <a:avLst>
              <a:gd name="adj" fmla="val 22222"/>
            </a:avLst>
          </a:prstGeom>
          <a:solidFill>
            <a:srgbClr val="EAF4F8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685032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80" kern="0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UI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783080" y="3675888"/>
            <a:ext cx="2532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 tabs  ·  Plotly charts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822960" y="4315968"/>
            <a:ext cx="2057400" cy="265176"/>
          </a:xfrm>
          <a:prstGeom prst="roundRect">
            <a:avLst>
              <a:gd name="adj" fmla="val 41379"/>
            </a:avLst>
          </a:prstGeom>
          <a:solidFill>
            <a:srgbClr val="2A9D8F">
              <a:alpha val="12000"/>
            </a:srgbClr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4334256"/>
            <a:ext cx="1911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A9D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CURRENT: VALIDATED BASELINE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28032" y="1627632"/>
            <a:ext cx="3730752" cy="2907792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93208" y="1828800"/>
            <a:ext cx="3182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2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02352" y="219456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0" kern="0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108192" y="2194560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3.11+</a:t>
            </a:r>
            <a:endParaRPr lang="en-US" sz="910" dirty="0"/>
          </a:p>
        </p:txBody>
      </p:sp>
      <p:sp>
        <p:nvSpPr>
          <p:cNvPr id="29" name="Shape 27"/>
          <p:cNvSpPr/>
          <p:nvPr/>
        </p:nvSpPr>
        <p:spPr>
          <a:xfrm>
            <a:off x="5102352" y="2441448"/>
            <a:ext cx="3145536" cy="0"/>
          </a:xfrm>
          <a:prstGeom prst="line">
            <a:avLst/>
          </a:prstGeom>
          <a:noFill/>
          <a:ln w="6350">
            <a:solidFill>
              <a:srgbClr val="DCE5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02352" y="248716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0" kern="0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108192" y="2487168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pandas · NumPy · PyArrow</a:t>
            </a:r>
            <a:endParaRPr lang="en-US" sz="910" dirty="0"/>
          </a:p>
        </p:txBody>
      </p:sp>
      <p:sp>
        <p:nvSpPr>
          <p:cNvPr id="32" name="Shape 30"/>
          <p:cNvSpPr/>
          <p:nvPr/>
        </p:nvSpPr>
        <p:spPr>
          <a:xfrm>
            <a:off x="5102352" y="2734056"/>
            <a:ext cx="3145536" cy="0"/>
          </a:xfrm>
          <a:prstGeom prst="line">
            <a:avLst/>
          </a:prstGeom>
          <a:noFill/>
          <a:ln w="6350">
            <a:solidFill>
              <a:srgbClr val="DCE5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02352" y="277977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0" kern="0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108192" y="2779776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openpyxl · ZIP / XLSX</a:t>
            </a:r>
            <a:endParaRPr lang="en-US" sz="910" dirty="0"/>
          </a:p>
        </p:txBody>
      </p:sp>
      <p:sp>
        <p:nvSpPr>
          <p:cNvPr id="35" name="Shape 33"/>
          <p:cNvSpPr/>
          <p:nvPr/>
        </p:nvSpPr>
        <p:spPr>
          <a:xfrm>
            <a:off x="5102352" y="3026664"/>
            <a:ext cx="3145536" cy="0"/>
          </a:xfrm>
          <a:prstGeom prst="line">
            <a:avLst/>
          </a:prstGeom>
          <a:noFill/>
          <a:ln w="6350">
            <a:solidFill>
              <a:srgbClr val="DCE5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02352" y="307238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0" kern="0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108192" y="3072384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PyYAML · YAML</a:t>
            </a:r>
            <a:endParaRPr lang="en-US" sz="910" dirty="0"/>
          </a:p>
        </p:txBody>
      </p:sp>
      <p:sp>
        <p:nvSpPr>
          <p:cNvPr id="38" name="Shape 36"/>
          <p:cNvSpPr/>
          <p:nvPr/>
        </p:nvSpPr>
        <p:spPr>
          <a:xfrm>
            <a:off x="5102352" y="3319272"/>
            <a:ext cx="3145536" cy="0"/>
          </a:xfrm>
          <a:prstGeom prst="line">
            <a:avLst/>
          </a:prstGeom>
          <a:noFill/>
          <a:ln w="6350">
            <a:solidFill>
              <a:srgbClr val="DCE5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02352" y="336499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0" kern="0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+ CHARTS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108192" y="3364992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 · Plotly</a:t>
            </a:r>
            <a:endParaRPr lang="en-US" sz="910" dirty="0"/>
          </a:p>
        </p:txBody>
      </p:sp>
      <p:sp>
        <p:nvSpPr>
          <p:cNvPr id="41" name="Shape 39"/>
          <p:cNvSpPr/>
          <p:nvPr/>
        </p:nvSpPr>
        <p:spPr>
          <a:xfrm>
            <a:off x="5102352" y="3611880"/>
            <a:ext cx="3145536" cy="0"/>
          </a:xfrm>
          <a:prstGeom prst="line">
            <a:avLst/>
          </a:prstGeom>
          <a:noFill/>
          <a:ln w="6350">
            <a:solidFill>
              <a:srgbClr val="DCE5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02352" y="365760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0" kern="0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108192" y="3657600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 · Ruff (dev tools)</a:t>
            </a:r>
            <a:endParaRPr lang="en-US" sz="910" dirty="0"/>
          </a:p>
        </p:txBody>
      </p:sp>
      <p:sp>
        <p:nvSpPr>
          <p:cNvPr id="44" name="Shape 42"/>
          <p:cNvSpPr/>
          <p:nvPr/>
        </p:nvSpPr>
        <p:spPr>
          <a:xfrm>
            <a:off x="5102352" y="3904488"/>
            <a:ext cx="3145536" cy="0"/>
          </a:xfrm>
          <a:prstGeom prst="line">
            <a:avLst/>
          </a:prstGeom>
          <a:noFill/>
          <a:ln w="6350">
            <a:solidFill>
              <a:srgbClr val="DCE5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02352" y="395020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0" kern="0" dirty="0">
                <a:solidFill>
                  <a:srgbClr val="0077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108192" y="3950208"/>
            <a:ext cx="2157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setuptools · CLI entry point</a:t>
            </a:r>
            <a:endParaRPr lang="en-US" sz="910" dirty="0"/>
          </a:p>
        </p:txBody>
      </p:sp>
      <p:sp>
        <p:nvSpPr>
          <p:cNvPr id="47" name="Text 45"/>
          <p:cNvSpPr/>
          <p:nvPr/>
        </p:nvSpPr>
        <p:spPr>
          <a:xfrm>
            <a:off x="621792" y="4590288"/>
            <a:ext cx="7955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Optimization / route comparison is the next implementation slice; it is not part of this saved baseline run.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2396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Hackathon Prototype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Slotwise — Smarter warehouse slotting</dc:title>
  <dc:subject>Live demo of warehouse slotting prototype</dc:subject>
  <dc:creator>Slotwise Hackathon Team</dc:creator>
  <cp:lastModifiedBy>Slotwise Hackathon Team</cp:lastModifiedBy>
  <cp:revision>1</cp:revision>
  <dcterms:created xsi:type="dcterms:W3CDTF">2026-10-27T14:36:28Z</dcterms:created>
  <dcterms:modified xsi:type="dcterms:W3CDTF">2026-10-27T14:36:28Z</dcterms:modified>
</cp:coreProperties>
</file>