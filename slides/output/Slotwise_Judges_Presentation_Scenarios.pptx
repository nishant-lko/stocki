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(about 60 seconds): “This page checks whether the result survives changes in the operating scenario. The left chart moves the packing desk across aisles: the modeled gain versus a random legal layout falls from 20.7% at aisle 0 to 8.8% at aisle 4, so the benefit depends on desk location. On the right, the worst ±30% shift among the 40 busiest products still retains 20.5% gain. The harsher case is a slow product going viral: frozen S-1037 retains 17.0%; re-running the optimizer lifts that to 19.3%. Enforcing floor-only storage for heavy products reduces the displayed gain to 15.7% across five constrained SKUs. That comparison uses a fresh legal start, so the change includes starting-layout variation. We have not tested 90% utilization: this run occupies only 1.5% of modeled stock cube. The caveat at the bottom is the key decision: 36 of 40 busy products have near-tied legal bins, and in this uploaded run a simple frequency sort averages 39.0 m versus 40.2 m for search. That means this run does not show added value from the more complex search over that heuristic. These scenarios use a selected upload with 108 held-out orders; the previous results slide is the default run with 3,199 test orders, so treat them as separate datasets.”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932688"/>
            <a:ext cx="512064" cy="5212080"/>
          </a:xfrm>
          <a:prstGeom prst="rect">
            <a:avLst/>
          </a:prstGeom>
          <a:solidFill>
            <a:srgbClr val="193B55"/>
          </a:solidFill>
          <a:ln w="8890">
            <a:solidFill>
              <a:srgbClr val="6B879D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71232" y="1225296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71232" y="2359152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71232" y="3493008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71232" y="4626864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02752" y="932688"/>
            <a:ext cx="512064" cy="5212080"/>
          </a:xfrm>
          <a:prstGeom prst="rect">
            <a:avLst/>
          </a:prstGeom>
          <a:solidFill>
            <a:srgbClr val="193B55"/>
          </a:solidFill>
          <a:ln w="8890">
            <a:solidFill>
              <a:srgbClr val="6B879D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75904" y="1225296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75904" y="2359152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75904" y="3493008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75904" y="4626864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932688"/>
            <a:ext cx="512064" cy="5212080"/>
          </a:xfrm>
          <a:prstGeom prst="rect">
            <a:avLst/>
          </a:prstGeom>
          <a:solidFill>
            <a:srgbClr val="193B55"/>
          </a:solidFill>
          <a:ln w="8890">
            <a:solidFill>
              <a:srgbClr val="6B879D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80576" y="1225296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0576" y="2359152"/>
            <a:ext cx="365760" cy="658368"/>
          </a:xfrm>
          <a:prstGeom prst="rect">
            <a:avLst/>
          </a:prstGeom>
          <a:solidFill>
            <a:srgbClr val="F4B942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0576" y="3493008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0576" y="4626864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12096" y="932688"/>
            <a:ext cx="512064" cy="5212080"/>
          </a:xfrm>
          <a:prstGeom prst="rect">
            <a:avLst/>
          </a:prstGeom>
          <a:solidFill>
            <a:srgbClr val="193B55"/>
          </a:solidFill>
          <a:ln w="8890">
            <a:solidFill>
              <a:srgbClr val="6B879D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85248" y="1225296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85248" y="2359152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85248" y="3493008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85248" y="4626864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16768" y="932688"/>
            <a:ext cx="512064" cy="5212080"/>
          </a:xfrm>
          <a:prstGeom prst="rect">
            <a:avLst/>
          </a:prstGeom>
          <a:solidFill>
            <a:srgbClr val="193B55"/>
          </a:solidFill>
          <a:ln w="8890">
            <a:solidFill>
              <a:srgbClr val="6B879D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89920" y="1225296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0" y="2359152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9920" y="3493008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0" y="4626864"/>
            <a:ext cx="365760" cy="658368"/>
          </a:xfrm>
          <a:prstGeom prst="rect">
            <a:avLst/>
          </a:prstGeom>
          <a:solidFill>
            <a:srgbClr val="39718C"/>
          </a:solidFill>
          <a:ln w="7620">
            <a:solidFill>
              <a:srgbClr val="8FB7C9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7863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65C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PRODUCT WALKTHROUGH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150876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</a:t>
            </a:r>
            <a:endParaRPr lang="en-US" sz="5800" dirty="0"/>
          </a:p>
        </p:txBody>
      </p:sp>
      <p:sp>
        <p:nvSpPr>
          <p:cNvPr id="29" name="Text 27"/>
          <p:cNvSpPr/>
          <p:nvPr/>
        </p:nvSpPr>
        <p:spPr>
          <a:xfrm>
            <a:off x="749808" y="2651760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placement that balances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D9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speed with physical rules.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58952" y="391363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9C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order history into a feasible layout, then measure it on later orders.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68096" y="4892040"/>
            <a:ext cx="3200400" cy="283464"/>
          </a:xfrm>
          <a:prstGeom prst="roundRect">
            <a:avLst>
              <a:gd name="adj" fmla="val 38710"/>
            </a:avLst>
          </a:prstGeom>
          <a:solidFill>
            <a:srgbClr val="65C3D0">
              <a:alpha val="11000"/>
            </a:srgbClr>
          </a:solidFill>
          <a:ln w="12700">
            <a:solidFill>
              <a:srgbClr val="65C3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491490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C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→ DECISION → VALIDATION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" y="612648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C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prototype with transparent assumptions and measured comparisons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locations shape every picking trip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fast-moving product stored far away adds repeated walking. A convenient slot may still be unsafe or too small.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3547872" cy="2340864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219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724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waste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Pickers revisit distant aisles for products ordered often.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3035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history tells us what is frequently picked.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53128" y="1993392"/>
            <a:ext cx="3547872" cy="2340864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2219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81728" y="2724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Basket spread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81728" y="31821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ordered together can end up far apart.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81728" y="3794760"/>
            <a:ext cx="3035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Co-occurrence gives a signal for nearby placement.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11896" y="1993392"/>
            <a:ext cx="3547872" cy="2340864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0496" y="22219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40496" y="2724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limits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40496" y="31821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Weight, size, shelf height and hazard rules are non-negotiable.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0496" y="3794760"/>
            <a:ext cx="3035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plan must be feasible before it is fast.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754880"/>
            <a:ext cx="10972800" cy="722376"/>
          </a:xfrm>
          <a:prstGeom prst="roundRect">
            <a:avLst>
              <a:gd name="adj" fmla="val 15190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956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need: put high-demand products in sensible reach, while keeping every assignment legal.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turns warehouse data into a decision you can inspect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warehouse planner: start with demand and warehouse facts, get a layout, then review its trade-offs.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221992"/>
            <a:ext cx="960120" cy="283464"/>
          </a:xfrm>
          <a:prstGeom prst="roundRect">
            <a:avLst>
              <a:gd name="adj" fmla="val 38710"/>
            </a:avLst>
          </a:prstGeom>
          <a:solidFill>
            <a:srgbClr val="1976A8">
              <a:alpha val="11000"/>
            </a:srgbClr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244852"/>
            <a:ext cx="79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724912"/>
            <a:ext cx="198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facts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 map + rules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99232" y="2999232"/>
            <a:ext cx="402336" cy="0"/>
          </a:xfrm>
          <a:prstGeom prst="line">
            <a:avLst/>
          </a:prstGeom>
          <a:noFill/>
          <a:ln w="25400">
            <a:solidFill>
              <a:srgbClr val="65C3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00984" y="2880360"/>
            <a:ext cx="219456" cy="228600"/>
          </a:xfrm>
          <a:prstGeom prst="chevron">
            <a:avLst/>
          </a:prstGeom>
          <a:solidFill>
            <a:srgbClr val="65C3D0"/>
          </a:solidFill>
          <a:ln w="12700">
            <a:solidFill>
              <a:srgbClr val="65C3D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029968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2221992"/>
            <a:ext cx="960120" cy="283464"/>
          </a:xfrm>
          <a:prstGeom prst="roundRect">
            <a:avLst>
              <a:gd name="adj" fmla="val 38710"/>
            </a:avLst>
          </a:prstGeom>
          <a:solidFill>
            <a:srgbClr val="1976A8">
              <a:alpha val="11000"/>
            </a:srgbClr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2244852"/>
            <a:ext cx="79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03320" y="2724912"/>
            <a:ext cx="198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classes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Basket affinity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bin options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79592" y="2999232"/>
            <a:ext cx="402336" cy="0"/>
          </a:xfrm>
          <a:prstGeom prst="line">
            <a:avLst/>
          </a:prstGeom>
          <a:noFill/>
          <a:ln w="25400">
            <a:solidFill>
              <a:srgbClr val="65C3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2880360"/>
            <a:ext cx="219456" cy="228600"/>
          </a:xfrm>
          <a:prstGeom prst="chevron">
            <a:avLst/>
          </a:prstGeom>
          <a:solidFill>
            <a:srgbClr val="65C3D0"/>
          </a:solidFill>
          <a:ln w="12700">
            <a:solidFill>
              <a:srgbClr val="65C3D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029968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FFF3D6"/>
          </a:solidFill>
          <a:ln w="10160">
            <a:solidFill>
              <a:srgbClr val="F4B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5392" y="2221992"/>
            <a:ext cx="960120" cy="283464"/>
          </a:xfrm>
          <a:prstGeom prst="roundRect">
            <a:avLst>
              <a:gd name="adj" fmla="val 38710"/>
            </a:avLst>
          </a:prstGeom>
          <a:solidFill>
            <a:srgbClr val="E9785B">
              <a:alpha val="11000"/>
            </a:srgbClr>
          </a:solidFill>
          <a:ln w="12700">
            <a:solidFill>
              <a:srgbClr val="E9785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2244852"/>
            <a:ext cx="79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7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2724912"/>
            <a:ext cx="198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for a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low-cost layout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59952" y="2999232"/>
            <a:ext cx="402336" cy="0"/>
          </a:xfrm>
          <a:prstGeom prst="line">
            <a:avLst/>
          </a:prstGeom>
          <a:noFill/>
          <a:ln w="25400">
            <a:solidFill>
              <a:srgbClr val="65C3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880360"/>
            <a:ext cx="219456" cy="228600"/>
          </a:xfrm>
          <a:prstGeom prst="chevron">
            <a:avLst/>
          </a:prstGeom>
          <a:solidFill>
            <a:srgbClr val="65C3D0"/>
          </a:solidFill>
          <a:ln w="12700">
            <a:solidFill>
              <a:srgbClr val="65C3D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029968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45752" y="2221992"/>
            <a:ext cx="960120" cy="283464"/>
          </a:xfrm>
          <a:prstGeom prst="roundRect">
            <a:avLst>
              <a:gd name="adj" fmla="val 38710"/>
            </a:avLst>
          </a:prstGeom>
          <a:solidFill>
            <a:srgbClr val="1976A8">
              <a:alpha val="11000"/>
            </a:srgbClr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28048" y="2244852"/>
            <a:ext cx="79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64040" y="2724912"/>
            <a:ext cx="198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comparison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validation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explanations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outputs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97480" y="4507992"/>
            <a:ext cx="100584" cy="100584"/>
          </a:xfrm>
          <a:prstGeom prst="ellipse">
            <a:avLst/>
          </a:prstGeom>
          <a:solidFill>
            <a:srgbClr val="258A73"/>
          </a:solidFill>
          <a:ln w="12700">
            <a:solidFill>
              <a:srgbClr val="258A7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7792" y="44439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product-to-bin assignment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97480" y="4837176"/>
            <a:ext cx="100584" cy="100584"/>
          </a:xfrm>
          <a:prstGeom prst="ellipse">
            <a:avLst/>
          </a:prstGeom>
          <a:solidFill>
            <a:srgbClr val="258A73"/>
          </a:solidFill>
          <a:ln w="12700">
            <a:solidFill>
              <a:srgbClr val="258A7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07792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optimizer prefers the layout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97480" y="5166360"/>
            <a:ext cx="100584" cy="1005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07792" y="510235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separate forest proposal performs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DATA &amp; STORAGE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product needs—and how this build stores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persistence layer is a reproducible file-based run bundle, not a live database service.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285232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74520"/>
            <a:ext cx="5285232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0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inputs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14400" y="2724912"/>
            <a:ext cx="109728" cy="109728"/>
          </a:xfrm>
          <a:prstGeom prst="ellipse">
            <a:avLst/>
          </a:prstGeom>
          <a:solidFill>
            <a:srgbClr val="65C3D0"/>
          </a:solidFill>
          <a:ln w="12700">
            <a:solidFill>
              <a:srgbClr val="65C3D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65176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lines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65176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ID · SKU · quantity ·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273552"/>
            <a:ext cx="109728" cy="109728"/>
          </a:xfrm>
          <a:prstGeom prst="ellipse">
            <a:avLst/>
          </a:prstGeom>
          <a:solidFill>
            <a:srgbClr val="65C3D0"/>
          </a:solidFill>
          <a:ln w="12700">
            <a:solidFill>
              <a:srgbClr val="65C3D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0040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facts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32004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 · dimensions · handling · stock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822192"/>
            <a:ext cx="109728" cy="109728"/>
          </a:xfrm>
          <a:prstGeom prst="ellipse">
            <a:avLst/>
          </a:prstGeom>
          <a:solidFill>
            <a:srgbClr val="65C3D0"/>
          </a:solidFill>
          <a:ln w="12700">
            <a:solidFill>
              <a:srgbClr val="65C3D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74904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facts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7490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bins · coordinates · levels · capacities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370832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2976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42976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hazmat zone · load limits · reach penalties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9672" y="2103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bundle (Parquet + JSON)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37960" y="26334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7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orders.parquet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2633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lines + chronological split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37960" y="30723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7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skus / locations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30723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and bin dimensions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37960" y="35112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7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abc / affinity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+ basket relationships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37960" y="39502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7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assignments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38160" y="39502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baseline, optimized, ML proposal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37960" y="43891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7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metrics + manifest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38160" y="43891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scores, rules, seed, source hash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440680"/>
            <a:ext cx="10908792" cy="530352"/>
          </a:xfrm>
          <a:prstGeom prst="roundRect">
            <a:avLst>
              <a:gd name="adj" fmla="val 20690"/>
            </a:avLst>
          </a:prstGeom>
          <a:solidFill>
            <a:srgbClr val="E7F2F8"/>
          </a:solidFill>
          <a:ln w="10160">
            <a:solidFill>
              <a:srgbClr val="E7F2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559612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helps a demo: each run can be reopened and traced to its source, configuration and random seeds.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END-TO-END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story: learn demand, plan safely, measure honestly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Training, validation and test periods are chronological so later orders stay out of planning.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2322576"/>
            <a:ext cx="338328" cy="33832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3225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" y="2816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" y="31363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invalid / cancelled lines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2907792"/>
            <a:ext cx="201168" cy="0"/>
          </a:xfrm>
          <a:prstGeom prst="line">
            <a:avLst/>
          </a:prstGeom>
          <a:noFill/>
          <a:ln w="21590">
            <a:solidFill>
              <a:srgbClr val="65C3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214884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9192" y="2322576"/>
            <a:ext cx="338328" cy="33832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23225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79192" y="2816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9192" y="31363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 train · 20% validation · 20% test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2907792"/>
            <a:ext cx="201168" cy="0"/>
          </a:xfrm>
          <a:prstGeom prst="line">
            <a:avLst/>
          </a:prstGeom>
          <a:noFill/>
          <a:ln w="21590">
            <a:solidFill>
              <a:srgbClr val="65C3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71416" y="214884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322576"/>
            <a:ext cx="338328" cy="33832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3225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2816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31363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velocity + basket pairs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2907792"/>
            <a:ext cx="201168" cy="0"/>
          </a:xfrm>
          <a:prstGeom prst="line">
            <a:avLst/>
          </a:prstGeom>
          <a:noFill/>
          <a:ln w="21590">
            <a:solidFill>
              <a:srgbClr val="65C3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9944" y="214884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56248" y="2322576"/>
            <a:ext cx="338328" cy="33832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23225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56248" y="2816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56248" y="31363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baseline + local search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01584" y="2907792"/>
            <a:ext cx="201168" cy="0"/>
          </a:xfrm>
          <a:prstGeom prst="line">
            <a:avLst/>
          </a:prstGeom>
          <a:noFill/>
          <a:ln w="21590">
            <a:solidFill>
              <a:srgbClr val="65C3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48472" y="214884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DDF4EF"/>
          </a:solidFill>
          <a:ln w="10160">
            <a:solidFill>
              <a:srgbClr val="258A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94776" y="2322576"/>
            <a:ext cx="338328" cy="33832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94776" y="23225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94776" y="2816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94776" y="31363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constraints independently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040112" y="2907792"/>
            <a:ext cx="201168" cy="0"/>
          </a:xfrm>
          <a:prstGeom prst="line">
            <a:avLst/>
          </a:prstGeom>
          <a:noFill/>
          <a:ln w="21590">
            <a:solidFill>
              <a:srgbClr val="65C3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87000" y="214884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33304" y="2322576"/>
            <a:ext cx="338328" cy="33832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33304" y="23225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433304" y="28163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433304" y="313639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later held-out orders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" y="4315968"/>
            <a:ext cx="5321808" cy="932688"/>
          </a:xfrm>
          <a:prstGeom prst="roundRect">
            <a:avLst>
              <a:gd name="adj" fmla="val 11765"/>
            </a:avLst>
          </a:prstGeom>
          <a:solidFill>
            <a:srgbClr val="FFF3D6"/>
          </a:solidFill>
          <a:ln w="10160">
            <a:solidFill>
              <a:srgbClr val="FFF3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449884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chooses the published layout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68680" y="4837176"/>
            <a:ext cx="4864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orders are reserved for final comparison.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4315968"/>
            <a:ext cx="5321808" cy="932688"/>
          </a:xfrm>
          <a:prstGeom prst="roundRect">
            <a:avLst>
              <a:gd name="adj" fmla="val 11765"/>
            </a:avLst>
          </a:prstGeom>
          <a:solidFill>
            <a:srgbClr val="E7F2F8"/>
          </a:solidFill>
          <a:ln w="10160">
            <a:solidFill>
              <a:srgbClr val="E7F2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4498848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route model scores every layout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00800" y="4837176"/>
            <a:ext cx="4864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orders, map, walking speed and pick assumptions.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ALGORITHM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optimizer makes the layout; the forest learns its pattern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these two jobs separate when judges ask “what is the ML doing?”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21808" cy="35478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828800"/>
            <a:ext cx="5321808" cy="35478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057400"/>
            <a:ext cx="2103120" cy="283464"/>
          </a:xfrm>
          <a:prstGeom prst="roundRect">
            <a:avLst>
              <a:gd name="adj" fmla="val 38710"/>
            </a:avLst>
          </a:prstGeom>
          <a:solidFill>
            <a:srgbClr val="1976A8">
              <a:alpha val="11000"/>
            </a:srgbClr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0802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DECISION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251460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local search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96112" y="2999232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from a legal baseline and explores moves / swaps. It rewards shorter depot walks, nearby basket pairs and ergonomic shelf heights; it penalizes excess occupied capacity.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4160520"/>
            <a:ext cx="100584" cy="100584"/>
          </a:xfrm>
          <a:prstGeom prst="ellipse">
            <a:avLst/>
          </a:prstGeom>
          <a:solidFill>
            <a:srgbClr val="258A73"/>
          </a:solidFill>
          <a:ln w="12700">
            <a:solidFill>
              <a:srgbClr val="258A7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096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rules reject illegal moves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2688" y="4480560"/>
            <a:ext cx="100584" cy="100584"/>
          </a:xfrm>
          <a:prstGeom prst="ellipse">
            <a:avLst/>
          </a:prstGeom>
          <a:solidFill>
            <a:srgbClr val="65C3D0"/>
          </a:solidFill>
          <a:ln w="12700">
            <a:solidFill>
              <a:srgbClr val="65C3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4165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Seeded, bounded search for repeatability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2688" y="4800600"/>
            <a:ext cx="100584" cy="100584"/>
          </a:xfrm>
          <a:prstGeom prst="ellipse">
            <a:avLst/>
          </a:prstGeom>
          <a:solidFill>
            <a:srgbClr val="65C3D0"/>
          </a:solidFill>
          <a:ln w="12700">
            <a:solidFill>
              <a:srgbClr val="65C3D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7365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selects; held-out test measures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73952" y="2057400"/>
            <a:ext cx="1828800" cy="283464"/>
          </a:xfrm>
          <a:prstGeom prst="roundRect">
            <a:avLst>
              <a:gd name="adj" fmla="val 38710"/>
            </a:avLst>
          </a:prstGeom>
          <a:solidFill>
            <a:srgbClr val="E9785B">
              <a:alpha val="11000"/>
            </a:srgbClr>
          </a:solidFill>
          <a:ln w="12700">
            <a:solidFill>
              <a:srgbClr val="E9785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208026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7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SURROGATE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73952" y="251460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classifier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473952" y="2999232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row is a product + legal bin. The optimizer’s chosen bin is label 1; other legal bins are 0. Sixty bagged regression trees score candidates; average score ranks bins.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0528" y="4160520"/>
            <a:ext cx="100584" cy="1005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0965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bootstrap trees; random feature subset per tree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10528" y="4480560"/>
            <a:ext cx="100584" cy="1005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4165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Ranks candidate bins; placement tracks rack load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10528" y="4800600"/>
            <a:ext cx="100584" cy="100584"/>
          </a:xfrm>
          <a:prstGeom prst="ellipse">
            <a:avLst/>
          </a:prstGeom>
          <a:solidFill>
            <a:srgbClr val="258A73"/>
          </a:solidFill>
          <a:ln w="12700">
            <a:solidFill>
              <a:srgbClr val="258A7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7365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validator checks the full proposal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56692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7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forest imitates optimizer choices; it does not learn from observed expert placements.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MODEL EXPLANATION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tree decides to split—and what the chart says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split is a threshold rule that best separates chosen-bin examples from alternatives.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4709160" cy="3584448"/>
          </a:xfrm>
          <a:prstGeom prst="roundRect">
            <a:avLst>
              <a:gd name="adj" fmla="val 3061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84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5C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split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6060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weight ≤ 4.6 kg?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07792" y="3337560"/>
            <a:ext cx="-969264" cy="521208"/>
          </a:xfrm>
          <a:prstGeom prst="line">
            <a:avLst/>
          </a:prstGeom>
          <a:noFill/>
          <a:ln w="19050">
            <a:solidFill>
              <a:srgbClr val="9CC7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3337560"/>
            <a:ext cx="978408" cy="521208"/>
          </a:xfrm>
          <a:prstGeom prst="line">
            <a:avLst/>
          </a:prstGeom>
          <a:noFill/>
          <a:ln w="19050">
            <a:solidFill>
              <a:srgbClr val="9CC7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3675888"/>
            <a:ext cx="658368" cy="283464"/>
          </a:xfrm>
          <a:prstGeom prst="roundRect">
            <a:avLst>
              <a:gd name="adj" fmla="val 38710"/>
            </a:avLst>
          </a:prstGeom>
          <a:solidFill>
            <a:srgbClr val="258A73">
              <a:alpha val="11000"/>
            </a:srgbClr>
          </a:solidFill>
          <a:ln w="12700">
            <a:solidFill>
              <a:srgbClr val="258A7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45336" y="369874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8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3675888"/>
            <a:ext cx="658368" cy="283464"/>
          </a:xfrm>
          <a:prstGeom prst="roundRect">
            <a:avLst>
              <a:gd name="adj" fmla="val 38710"/>
            </a:avLst>
          </a:prstGeom>
          <a:solidFill>
            <a:srgbClr val="E9785B">
              <a:alpha val="11000"/>
            </a:srgbClr>
          </a:solidFill>
          <a:ln w="12700">
            <a:solidFill>
              <a:srgbClr val="E9785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369874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7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1832" y="42976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9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tests candidate thresholds and chooses the one that reduces label variance most. For 0/1 labels, this matches Gini impurity reduction.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1828800"/>
            <a:ext cx="5989320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9008" y="2029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forest used in this run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06440" y="2542032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weight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33488" y="2555748"/>
            <a:ext cx="3246120" cy="164592"/>
          </a:xfrm>
          <a:prstGeom prst="roundRect">
            <a:avLst>
              <a:gd name="adj" fmla="val 22222"/>
            </a:avLst>
          </a:prstGeom>
          <a:solidFill>
            <a:srgbClr val="E7EEF3"/>
          </a:solidFill>
          <a:ln w="10160">
            <a:solidFill>
              <a:srgbClr val="E7EE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3488" y="2555748"/>
            <a:ext cx="3038368" cy="164592"/>
          </a:xfrm>
          <a:prstGeom prst="roundRect">
            <a:avLst>
              <a:gd name="adj" fmla="val 22222"/>
            </a:avLst>
          </a:prstGeom>
          <a:solidFill>
            <a:srgbClr val="1976A8"/>
          </a:solidFill>
          <a:ln w="10160">
            <a:solidFill>
              <a:srgbClr val="1976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80192" y="25283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06440" y="2990088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volume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33488" y="3003804"/>
            <a:ext cx="3246120" cy="164592"/>
          </a:xfrm>
          <a:prstGeom prst="roundRect">
            <a:avLst>
              <a:gd name="adj" fmla="val 22222"/>
            </a:avLst>
          </a:prstGeom>
          <a:solidFill>
            <a:srgbClr val="E7EEF3"/>
          </a:solidFill>
          <a:ln w="10160">
            <a:solidFill>
              <a:srgbClr val="E7EE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33488" y="3003804"/>
            <a:ext cx="2674803" cy="164592"/>
          </a:xfrm>
          <a:prstGeom prst="roundRect">
            <a:avLst>
              <a:gd name="adj" fmla="val 22222"/>
            </a:avLst>
          </a:prstGeom>
          <a:solidFill>
            <a:srgbClr val="1976A8"/>
          </a:solidFill>
          <a:ln w="10160">
            <a:solidFill>
              <a:srgbClr val="1976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80192" y="29763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343814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frequency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33488" y="3451860"/>
            <a:ext cx="3246120" cy="164592"/>
          </a:xfrm>
          <a:prstGeom prst="roundRect">
            <a:avLst>
              <a:gd name="adj" fmla="val 22222"/>
            </a:avLst>
          </a:prstGeom>
          <a:solidFill>
            <a:srgbClr val="E7EEF3"/>
          </a:solidFill>
          <a:ln w="10160">
            <a:solidFill>
              <a:srgbClr val="E7EE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3488" y="3451860"/>
            <a:ext cx="1467246" cy="164592"/>
          </a:xfrm>
          <a:prstGeom prst="roundRect">
            <a:avLst>
              <a:gd name="adj" fmla="val 22222"/>
            </a:avLst>
          </a:prstGeom>
          <a:solidFill>
            <a:srgbClr val="65C3D0"/>
          </a:solidFill>
          <a:ln w="10160">
            <a:solidFill>
              <a:srgbClr val="65C3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80192" y="34244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06440" y="38862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 shipped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33488" y="3899916"/>
            <a:ext cx="3246120" cy="164592"/>
          </a:xfrm>
          <a:prstGeom prst="roundRect">
            <a:avLst>
              <a:gd name="adj" fmla="val 22222"/>
            </a:avLst>
          </a:prstGeom>
          <a:solidFill>
            <a:srgbClr val="E7EEF3"/>
          </a:solidFill>
          <a:ln w="10160">
            <a:solidFill>
              <a:srgbClr val="E7EE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33488" y="3899916"/>
            <a:ext cx="1324417" cy="164592"/>
          </a:xfrm>
          <a:prstGeom prst="roundRect">
            <a:avLst>
              <a:gd name="adj" fmla="val 22222"/>
            </a:avLst>
          </a:prstGeom>
          <a:solidFill>
            <a:srgbClr val="65C3D0"/>
          </a:solidFill>
          <a:ln w="10160">
            <a:solidFill>
              <a:srgbClr val="65C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80192" y="38724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06440" y="4334256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 distance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33488" y="4347972"/>
            <a:ext cx="3246120" cy="164592"/>
          </a:xfrm>
          <a:prstGeom prst="roundRect">
            <a:avLst>
              <a:gd name="adj" fmla="val 22222"/>
            </a:avLst>
          </a:prstGeom>
          <a:solidFill>
            <a:srgbClr val="E7EEF3"/>
          </a:solidFill>
          <a:ln w="10160">
            <a:solidFill>
              <a:srgbClr val="E7EE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33488" y="4347972"/>
            <a:ext cx="1168603" cy="164592"/>
          </a:xfrm>
          <a:prstGeom prst="roundRect">
            <a:avLst>
              <a:gd name="adj" fmla="val 22222"/>
            </a:avLst>
          </a:prstGeom>
          <a:solidFill>
            <a:srgbClr val="65C3D0"/>
          </a:solidFill>
          <a:ln w="10160">
            <a:solidFill>
              <a:srgbClr val="65C3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80192" y="43205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97296" y="49560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split improvement; predictive signal, not causal impact.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PRODUCT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60-second walkthrough judges can follow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one scenario end to end; point to the same run ID while moving through each view.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0392" y="1938528"/>
            <a:ext cx="274320" cy="274320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89888" y="1874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run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1874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source, seed and split.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7552" y="2221992"/>
            <a:ext cx="0" cy="32004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2651760"/>
            <a:ext cx="274320" cy="274320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89888" y="25877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2587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vs optimized KPIs.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7552" y="2935224"/>
            <a:ext cx="0" cy="32004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" y="3364992"/>
            <a:ext cx="274320" cy="274320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89888" y="3300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layout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0" y="3300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SKU and explain its bin.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7552" y="3648456"/>
            <a:ext cx="0" cy="32004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" y="4078224"/>
            <a:ext cx="274320" cy="274320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89888" y="40142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ML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00400" y="40142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ranking + feature chart.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7552" y="4361688"/>
            <a:ext cx="0" cy="32004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4791456"/>
            <a:ext cx="274320" cy="274320"/>
          </a:xfrm>
          <a:prstGeom prst="ellipse">
            <a:avLst/>
          </a:prstGeom>
          <a:solidFill>
            <a:srgbClr val="258A73"/>
          </a:solidFill>
          <a:ln w="12700">
            <a:solidFill>
              <a:srgbClr val="258A7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89888" y="47274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safety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00400" y="4727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validation and rules.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35240" y="1901952"/>
            <a:ext cx="3858768" cy="3621024"/>
          </a:xfrm>
          <a:prstGeom prst="roundRect">
            <a:avLst>
              <a:gd name="adj" fmla="val 3030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9560" y="21579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65C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DASHBOARD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00416" y="2633472"/>
            <a:ext cx="3310128" cy="448056"/>
          </a:xfrm>
          <a:prstGeom prst="roundRect">
            <a:avLst>
              <a:gd name="adj" fmla="val 24490"/>
            </a:avLst>
          </a:prstGeom>
          <a:solidFill>
            <a:srgbClr val="193B55"/>
          </a:solidFill>
          <a:ln w="10160">
            <a:solidFill>
              <a:srgbClr val="4160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65008" y="27249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869680" y="272491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· reproducible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00416" y="3246120"/>
            <a:ext cx="3310128" cy="448056"/>
          </a:xfrm>
          <a:prstGeom prst="roundRect">
            <a:avLst>
              <a:gd name="adj" fmla="val 24490"/>
            </a:avLst>
          </a:prstGeom>
          <a:solidFill>
            <a:srgbClr val="193B55"/>
          </a:solidFill>
          <a:ln w="10160">
            <a:solidFill>
              <a:srgbClr val="4160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008" y="33375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869680" y="33375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held-out orders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900416" y="3858768"/>
            <a:ext cx="3310128" cy="448056"/>
          </a:xfrm>
          <a:prstGeom prst="roundRect">
            <a:avLst>
              <a:gd name="adj" fmla="val 24490"/>
            </a:avLst>
          </a:prstGeom>
          <a:solidFill>
            <a:srgbClr val="193B55"/>
          </a:solidFill>
          <a:ln w="10160">
            <a:solidFill>
              <a:srgbClr val="4160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65008" y="3950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869680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product / bin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00416" y="4471416"/>
            <a:ext cx="3310128" cy="448056"/>
          </a:xfrm>
          <a:prstGeom prst="roundRect">
            <a:avLst>
              <a:gd name="adj" fmla="val 24490"/>
            </a:avLst>
          </a:prstGeom>
          <a:solidFill>
            <a:srgbClr val="193B55"/>
          </a:solidFill>
          <a:ln w="10160">
            <a:solidFill>
              <a:srgbClr val="41607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65008" y="45628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869680" y="456285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violations reported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1248" y="577900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narration: “Here is the run → here is the measured change → here is why the assignment is allowed.”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optimizer reduced modeled travel on held-out orders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test: 3,199 later orders. Same route simulator, warehouse map and operating assumptions for both layouts.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26060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99339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46.8 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41248" y="24780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mean / order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7340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orders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29000" y="1874520"/>
            <a:ext cx="26060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99339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58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36.2 m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611880" y="24780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 mean / order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7340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22.6% lower distance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99632" y="1874520"/>
            <a:ext cx="26060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99339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2,613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382512" y="24780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with shorter route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82512" y="27340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447 longer · 139 unchanged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70264" y="1874520"/>
            <a:ext cx="2578608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3144" y="1993392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58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53144" y="247802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violations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53144" y="273405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optimized layout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walking distance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3977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03120" y="3950208"/>
            <a:ext cx="5943600" cy="283464"/>
          </a:xfrm>
          <a:prstGeom prst="roundRect">
            <a:avLst>
              <a:gd name="adj" fmla="val 19355"/>
            </a:avLst>
          </a:prstGeom>
          <a:solidFill>
            <a:srgbClr val="D9E2EC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950208"/>
            <a:ext cx="5577840" cy="283464"/>
          </a:xfrm>
          <a:prstGeom prst="roundRect">
            <a:avLst>
              <a:gd name="adj" fmla="val 19355"/>
            </a:avLst>
          </a:prstGeom>
          <a:solidFill>
            <a:srgbClr val="627D98"/>
          </a:solidFill>
          <a:ln w="10160">
            <a:solidFill>
              <a:srgbClr val="627D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5552" y="3950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46.8 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4572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4544568"/>
            <a:ext cx="5943600" cy="283464"/>
          </a:xfrm>
          <a:prstGeom prst="roundRect">
            <a:avLst>
              <a:gd name="adj" fmla="val 19355"/>
            </a:avLst>
          </a:prstGeom>
          <a:solidFill>
            <a:srgbClr val="D9E2EC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4544568"/>
            <a:ext cx="4315968" cy="283464"/>
          </a:xfrm>
          <a:prstGeom prst="roundRect">
            <a:avLst>
              <a:gd name="adj" fmla="val 19355"/>
            </a:avLst>
          </a:prstGeom>
          <a:solidFill>
            <a:srgbClr val="258A73"/>
          </a:solidFill>
          <a:ln w="10160">
            <a:solidFill>
              <a:srgbClr val="258A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5552" y="4544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8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36.2 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23960" y="3447288"/>
            <a:ext cx="2651760" cy="1746504"/>
          </a:xfrm>
          <a:prstGeom prst="roundRect">
            <a:avLst>
              <a:gd name="adj" fmla="val 6283"/>
            </a:avLst>
          </a:prstGeom>
          <a:solidFill>
            <a:srgbClr val="FFF3D6"/>
          </a:solidFill>
          <a:ln w="10160">
            <a:solidFill>
              <a:srgbClr val="FFF3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0848" y="36667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proposal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70848" y="400507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97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38.3 m / order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70848" y="448056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than baseline; optimizer remains stronger in this run.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56235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 results, not a claim of measured worker productivity or realized savings.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/  SCENARIO CHECKS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Desk, demand and safety rules change the measured gain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upload · 108 held-out orders. This is a separate run from the 3,199-order default benchmark on the previous slide.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737360"/>
            <a:ext cx="5852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gain vs saved random legal layout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15568" y="4507992"/>
            <a:ext cx="5065776" cy="0"/>
          </a:xfrm>
          <a:prstGeom prst="line">
            <a:avLst/>
          </a:prstGeom>
          <a:noFill/>
          <a:ln w="13970">
            <a:solidFill>
              <a:srgbClr val="9FB0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416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15568" y="3489683"/>
            <a:ext cx="5065776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8368" y="3398243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15568" y="2471374"/>
            <a:ext cx="5065776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58368" y="237993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15568" y="2400092"/>
            <a:ext cx="1013155" cy="224028"/>
          </a:xfrm>
          <a:prstGeom prst="line">
            <a:avLst/>
          </a:prstGeom>
          <a:noFill/>
          <a:ln w="31750">
            <a:solidFill>
              <a:srgbClr val="1976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28723" y="2624120"/>
            <a:ext cx="1013155" cy="417507"/>
          </a:xfrm>
          <a:prstGeom prst="line">
            <a:avLst/>
          </a:prstGeom>
          <a:noFill/>
          <a:ln w="31750">
            <a:solidFill>
              <a:srgbClr val="1976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41878" y="3041627"/>
            <a:ext cx="1013155" cy="386957"/>
          </a:xfrm>
          <a:prstGeom prst="line">
            <a:avLst/>
          </a:prstGeom>
          <a:noFill/>
          <a:ln w="31750">
            <a:solidFill>
              <a:srgbClr val="1976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55034" y="3428584"/>
            <a:ext cx="1013155" cy="183296"/>
          </a:xfrm>
          <a:prstGeom prst="line">
            <a:avLst/>
          </a:prstGeom>
          <a:noFill/>
          <a:ln w="31750">
            <a:solidFill>
              <a:srgbClr val="1976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8189" y="3611880"/>
            <a:ext cx="1013155" cy="-183296"/>
          </a:xfrm>
          <a:prstGeom prst="line">
            <a:avLst/>
          </a:prstGeom>
          <a:noFill/>
          <a:ln w="31750">
            <a:solidFill>
              <a:srgbClr val="1976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336084"/>
            <a:ext cx="128016" cy="12801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462686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064715" y="2560112"/>
            <a:ext cx="128016" cy="128016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5571" y="462686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77870" y="2977619"/>
            <a:ext cx="128016" cy="128016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8726" y="462686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091026" y="3364576"/>
            <a:ext cx="128016" cy="128016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81882" y="462686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04181" y="3547872"/>
            <a:ext cx="128016" cy="128016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5037" y="462686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17336" y="3364576"/>
            <a:ext cx="128016" cy="128016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462686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78608" y="4690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Packing-desk aisle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4956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Aisle 0 is the current desk: 20.7% saved. Aisle 4 is the weakest point: 8.8%.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10528" y="1737360"/>
            <a:ext cx="4754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 scoreboard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10528" y="2743200"/>
            <a:ext cx="501091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13969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±30% · worst of top 40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13648" y="2139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20.5% gain remains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65392" y="23957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S-1001 demand rises; above 10% trigger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510528" y="3401568"/>
            <a:ext cx="501091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27980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SKU · 10× surge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613648" y="2798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8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17.0% → 19.3%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65392" y="305409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S-1037 frozen → re-optimized · 1,200 proposals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6510528" y="4059936"/>
            <a:ext cx="501091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345643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Heavy products · floor only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613648" y="3456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7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20.7% → 15.7%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65392" y="37124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SKUs constrained · fresh legal start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510528" y="4718304"/>
            <a:ext cx="5010912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411480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90% full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613648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65392" y="43708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stock cube fill is 1.5%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658368" y="5413248"/>
            <a:ext cx="10927080" cy="612648"/>
          </a:xfrm>
          <a:prstGeom prst="roundRect">
            <a:avLst>
              <a:gd name="adj" fmla="val 17910"/>
            </a:avLst>
          </a:prstGeom>
          <a:solidFill>
            <a:srgbClr val="FFF3D6"/>
          </a:solidFill>
          <a:ln w="10160">
            <a:solidFill>
              <a:srgbClr val="FFF3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559612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honest limit: 36/40 busy products have near-tied legal bins; frequency sort beats search, 39.0 m vs 40.2 m / order.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9808" y="614476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run: 58 SKUs · 240 bins · 108 test orders. Floor-only result includes starting-layout variation; no 90% utilization claim.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/  TESTING &amp;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test the rules, the route math and the final assignment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should show evidence and assumptions—not just a model score.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5216" y="6419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219688" y="6272784"/>
            <a:ext cx="384048" cy="384048"/>
          </a:xfrm>
          <a:prstGeom prst="ellipse">
            <a:avLst/>
          </a:prstGeom>
          <a:solidFill>
            <a:srgbClr val="1976A8"/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19688" y="6272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6629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011680"/>
            <a:ext cx="502920" cy="283464"/>
          </a:xfrm>
          <a:prstGeom prst="roundRect">
            <a:avLst>
              <a:gd name="adj" fmla="val 38710"/>
            </a:avLst>
          </a:prstGeom>
          <a:solidFill>
            <a:srgbClr val="1976A8">
              <a:alpha val="11000"/>
            </a:srgbClr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03454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73352" y="198424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tests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impossible fits and assignment-rule handling.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24328"/>
            <a:ext cx="6629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2761488"/>
            <a:ext cx="502920" cy="283464"/>
          </a:xfrm>
          <a:prstGeom prst="roundRect">
            <a:avLst>
              <a:gd name="adj" fmla="val 38710"/>
            </a:avLst>
          </a:prstGeom>
          <a:solidFill>
            <a:srgbClr val="1976A8">
              <a:alpha val="11000"/>
            </a:srgbClr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2784348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73352" y="273405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tests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7340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within-aisle / cross-aisle distances and route polyline consistency.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74136"/>
            <a:ext cx="6629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" y="3511296"/>
            <a:ext cx="502920" cy="283464"/>
          </a:xfrm>
          <a:prstGeom prst="roundRect">
            <a:avLst>
              <a:gd name="adj" fmla="val 38710"/>
            </a:avLst>
          </a:prstGeom>
          <a:solidFill>
            <a:srgbClr val="1976A8">
              <a:alpha val="11000"/>
            </a:srgbClr>
          </a:solidFill>
          <a:ln w="12700">
            <a:solidFill>
              <a:srgbClr val="1976A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" y="3534156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97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73352" y="348386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Forest diagnostic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4838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products sampled; chosen-bin rows remain in training.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123944"/>
            <a:ext cx="6629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4261104"/>
            <a:ext cx="502920" cy="283464"/>
          </a:xfrm>
          <a:prstGeom prst="roundRect">
            <a:avLst>
              <a:gd name="adj" fmla="val 38710"/>
            </a:avLst>
          </a:prstGeom>
          <a:solidFill>
            <a:srgbClr val="258A73">
              <a:alpha val="11000"/>
            </a:srgbClr>
          </a:solidFill>
          <a:ln w="12700">
            <a:solidFill>
              <a:srgbClr val="258A7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" y="4283964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8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73352" y="423367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replay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42336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3,199 later test orders; report wins and regressions.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99248" y="1874520"/>
            <a:ext cx="3703320" cy="3566160"/>
          </a:xfrm>
          <a:prstGeom prst="roundRect">
            <a:avLst>
              <a:gd name="adj" fmla="val 3077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1762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5C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RANKING DIAGNOSTIC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01000" y="267004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6.7%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8028432" y="3310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top-1 exact-bin accuracy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28432" y="36758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6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top-3 · 30 sampled products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28432" y="4160520"/>
            <a:ext cx="2990088" cy="0"/>
          </a:xfrm>
          <a:prstGeom prst="line">
            <a:avLst/>
          </a:prstGeom>
          <a:noFill/>
          <a:ln w="12700">
            <a:solidFill>
              <a:srgbClr val="4160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28432" y="4370832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Imitation score only; sampled products’ positive labels were seen during training.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5779008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7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forest top-1/top-3 figures are optimistic diagnostics until training excludes every row for sampled products.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65C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/  WHAT WE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 aid, with its limits visible.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13232" y="1965960"/>
            <a:ext cx="5138928" cy="2286000"/>
          </a:xfrm>
          <a:prstGeom prst="roundRect">
            <a:avLst>
              <a:gd name="adj" fmla="val 4800"/>
            </a:avLst>
          </a:prstGeom>
          <a:solidFill>
            <a:srgbClr val="193B55"/>
          </a:solidFill>
          <a:ln w="10160">
            <a:solidFill>
              <a:srgbClr val="4160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240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5C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2724912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data pipeline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baseline + search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Forest ranking prototype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route evaluation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965960"/>
            <a:ext cx="5138928" cy="2286000"/>
          </a:xfrm>
          <a:prstGeom prst="roundRect">
            <a:avLst>
              <a:gd name="adj" fmla="val 4800"/>
            </a:avLst>
          </a:prstGeom>
          <a:solidFill>
            <a:srgbClr val="24485F"/>
          </a:solidFill>
          <a:ln w="10160">
            <a:solidFill>
              <a:srgbClr val="4160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2824" y="2240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1112" y="2724912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real bin inventory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observed pick times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operator review / overrides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drift as demand changes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5C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need for real deployment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5230368"/>
            <a:ext cx="10607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product weights / dimensions · actual bin capacities and map · safety sign-off · observed route/time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61447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Slotwise: demand-aware placement, independently checked.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Slotwise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Slotwise — warehouse slotting, explained</dc:title>
  <dc:subject>Judge presentation: product, data, algorithms and evaluation</dc:subject>
  <dc:creator>Slotwise Hackathon Team</dc:creator>
  <cp:lastModifiedBy>Slotwise Hackathon Team</cp:lastModifiedBy>
  <cp:revision>1</cp:revision>
  <dcterms:created xsi:type="dcterms:W3CDTF">2026-10-28T18:16:41Z</dcterms:created>
  <dcterms:modified xsi:type="dcterms:W3CDTF">2026-10-28T18:16:41Z</dcterms:modified>
</cp:coreProperties>
</file>